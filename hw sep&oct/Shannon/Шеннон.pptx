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Вероятность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3">
                      <a:shade val="7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hade val="7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shade val="7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tint val="7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tint val="7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tint val="7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Лист1!$A$2:$A$3</c:f>
              <c:strCache>
                <c:ptCount val="2"/>
                <c:pt idx="0">
                  <c:v>Р1</c:v>
                </c:pt>
                <c:pt idx="1">
                  <c:v>Р2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0.33</c:v>
                </c:pt>
                <c:pt idx="1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48-4228-980F-D83073E4B269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0C6C-4929-4A2E-944A-DE2B753C41ED}" type="datetimeFigureOut">
              <a:rPr lang="ru-RU" smtClean="0"/>
              <a:t>25.09.2022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21C5-C671-441C-8CA5-E2285EB0B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779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0C6C-4929-4A2E-944A-DE2B753C41ED}" type="datetimeFigureOut">
              <a:rPr lang="ru-RU" smtClean="0"/>
              <a:t>25.09.2022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21C5-C671-441C-8CA5-E2285EB0B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660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0C6C-4929-4A2E-944A-DE2B753C41ED}" type="datetimeFigureOut">
              <a:rPr lang="ru-RU" smtClean="0"/>
              <a:t>25.09.2022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21C5-C671-441C-8CA5-E2285EB0B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89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0C6C-4929-4A2E-944A-DE2B753C41ED}" type="datetimeFigureOut">
              <a:rPr lang="ru-RU" smtClean="0"/>
              <a:t>25.09.2022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21C5-C671-441C-8CA5-E2285EB0B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19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0C6C-4929-4A2E-944A-DE2B753C41ED}" type="datetimeFigureOut">
              <a:rPr lang="ru-RU" smtClean="0"/>
              <a:t>25.09.2022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21C5-C671-441C-8CA5-E2285EB0B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734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0C6C-4929-4A2E-944A-DE2B753C41ED}" type="datetimeFigureOut">
              <a:rPr lang="ru-RU" smtClean="0"/>
              <a:t>25.09.2022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21C5-C671-441C-8CA5-E2285EB0B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22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0C6C-4929-4A2E-944A-DE2B753C41ED}" type="datetimeFigureOut">
              <a:rPr lang="ru-RU" smtClean="0"/>
              <a:t>25.09.2022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21C5-C671-441C-8CA5-E2285EB0B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41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0C6C-4929-4A2E-944A-DE2B753C41ED}" type="datetimeFigureOut">
              <a:rPr lang="ru-RU" smtClean="0"/>
              <a:t>25.09.2022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21C5-C671-441C-8CA5-E2285EB0B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42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0C6C-4929-4A2E-944A-DE2B753C41ED}" type="datetimeFigureOut">
              <a:rPr lang="ru-RU" smtClean="0"/>
              <a:t>25.09.2022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21C5-C671-441C-8CA5-E2285EB0B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3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0C6C-4929-4A2E-944A-DE2B753C41ED}" type="datetimeFigureOut">
              <a:rPr lang="ru-RU" smtClean="0"/>
              <a:t>25.09.2022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21C5-C671-441C-8CA5-E2285EB0B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017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0C6C-4929-4A2E-944A-DE2B753C41ED}" type="datetimeFigureOut">
              <a:rPr lang="ru-RU" smtClean="0"/>
              <a:t>25.09.2022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21C5-C671-441C-8CA5-E2285EB0B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05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E0C6C-4929-4A2E-944A-DE2B753C41ED}" type="datetimeFigureOut">
              <a:rPr lang="ru-RU" smtClean="0"/>
              <a:t>25.09.2022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921C5-C671-441C-8CA5-E2285EB0B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648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5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est-exam.ru/formula-shenona" TargetMode="External"/><Relationship Id="rId2" Type="http://schemas.openxmlformats.org/officeDocument/2006/relationships/hyperlink" Target="https://urok-1sept-ru.turbopages.org/urok.1sept.ru/s/articles/574162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vk.com/away.php?to=https%3A%2F%2Fyoutu.be%2F-NyZeGLFwsk&amp;cc_key=" TargetMode="External"/><Relationship Id="rId4" Type="http://schemas.openxmlformats.org/officeDocument/2006/relationships/hyperlink" Target="https://youtu.be/B21PJAiOue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4130040" y="1323531"/>
            <a:ext cx="3931920" cy="3934269"/>
          </a:xfrm>
          <a:prstGeom prst="ellipse">
            <a:avLst/>
          </a:prstGeom>
          <a:solidFill>
            <a:srgbClr val="4D4D4D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latin typeface="Rostov" pitchFamily="2" charset="0"/>
              </a:rPr>
              <a:t>Формула Шеннона</a:t>
            </a:r>
          </a:p>
          <a:p>
            <a:pPr algn="ctr"/>
            <a:r>
              <a:rPr lang="ru-RU" dirty="0" smtClean="0"/>
              <a:t>_______</a:t>
            </a:r>
          </a:p>
          <a:p>
            <a:pPr algn="ctr"/>
            <a:endParaRPr lang="ru-RU" sz="1600" dirty="0" smtClean="0">
              <a:latin typeface="Rostov" pitchFamily="2" charset="0"/>
            </a:endParaRPr>
          </a:p>
          <a:p>
            <a:pPr algn="ctr"/>
            <a:r>
              <a:rPr lang="ru-RU" sz="1600" dirty="0" smtClean="0">
                <a:latin typeface="Rostov" pitchFamily="2" charset="0"/>
              </a:rPr>
              <a:t>Черкасова Алёна</a:t>
            </a:r>
            <a:endParaRPr lang="ru-RU" sz="1600" dirty="0">
              <a:latin typeface="Rostov" pitchFamily="2" charset="0"/>
            </a:endParaRPr>
          </a:p>
        </p:txBody>
      </p:sp>
      <p:cxnSp>
        <p:nvCxnSpPr>
          <p:cNvPr id="6" name="Скругленная соединительная линия 5"/>
          <p:cNvCxnSpPr/>
          <p:nvPr/>
        </p:nvCxnSpPr>
        <p:spPr>
          <a:xfrm flipV="1">
            <a:off x="497963" y="2652635"/>
            <a:ext cx="3745993" cy="812639"/>
          </a:xfrm>
          <a:prstGeom prst="curved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Скругленная соединительная линия 8"/>
          <p:cNvCxnSpPr/>
          <p:nvPr/>
        </p:nvCxnSpPr>
        <p:spPr>
          <a:xfrm flipV="1">
            <a:off x="8061960" y="2728936"/>
            <a:ext cx="3745993" cy="812639"/>
          </a:xfrm>
          <a:prstGeom prst="curvedConnector3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Скругленная соединительная линия 9"/>
          <p:cNvCxnSpPr/>
          <p:nvPr/>
        </p:nvCxnSpPr>
        <p:spPr>
          <a:xfrm>
            <a:off x="7975090" y="2674768"/>
            <a:ext cx="3995930" cy="666337"/>
          </a:xfrm>
          <a:prstGeom prst="curved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Скругленная соединительная линия 12"/>
          <p:cNvCxnSpPr/>
          <p:nvPr/>
        </p:nvCxnSpPr>
        <p:spPr>
          <a:xfrm>
            <a:off x="147062" y="2875432"/>
            <a:ext cx="3995930" cy="666337"/>
          </a:xfrm>
          <a:prstGeom prst="curvedConnector3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Скругленная соединительная линия 13"/>
          <p:cNvCxnSpPr/>
          <p:nvPr/>
        </p:nvCxnSpPr>
        <p:spPr>
          <a:xfrm>
            <a:off x="166493" y="2300543"/>
            <a:ext cx="3995930" cy="666337"/>
          </a:xfrm>
          <a:prstGeom prst="curved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Скругленная соединительная линия 16"/>
          <p:cNvCxnSpPr/>
          <p:nvPr/>
        </p:nvCxnSpPr>
        <p:spPr>
          <a:xfrm flipV="1">
            <a:off x="8061960" y="2208515"/>
            <a:ext cx="3745993" cy="812639"/>
          </a:xfrm>
          <a:prstGeom prst="curved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Скругленная соединительная линия 17"/>
          <p:cNvCxnSpPr/>
          <p:nvPr/>
        </p:nvCxnSpPr>
        <p:spPr>
          <a:xfrm flipV="1">
            <a:off x="396617" y="3271773"/>
            <a:ext cx="3745993" cy="812639"/>
          </a:xfrm>
          <a:prstGeom prst="curved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Скругленная соединительная линия 18"/>
          <p:cNvCxnSpPr/>
          <p:nvPr/>
        </p:nvCxnSpPr>
        <p:spPr>
          <a:xfrm>
            <a:off x="8061960" y="3312573"/>
            <a:ext cx="3995930" cy="666337"/>
          </a:xfrm>
          <a:prstGeom prst="curved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41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1341" y="566757"/>
            <a:ext cx="107382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2400" dirty="0" smtClean="0">
              <a:latin typeface="Rostov" pitchFamily="2" charset="0"/>
            </a:endParaRPr>
          </a:p>
          <a:p>
            <a:pPr algn="ctr"/>
            <a:endParaRPr lang="ru-RU" sz="2400" dirty="0">
              <a:latin typeface="Rostov" pitchFamily="2" charset="0"/>
            </a:endParaRPr>
          </a:p>
          <a:p>
            <a:pPr algn="ctr"/>
            <a:r>
              <a:rPr lang="ru-RU" sz="1600" dirty="0" smtClean="0">
                <a:latin typeface="Rostov" pitchFamily="2" charset="0"/>
              </a:rPr>
              <a:t>Вычисление </a:t>
            </a:r>
            <a:r>
              <a:rPr lang="ru-RU" sz="1600" dirty="0">
                <a:latin typeface="Rostov" pitchFamily="2" charset="0"/>
              </a:rPr>
              <a:t>количества информации для событий с </a:t>
            </a:r>
            <a:r>
              <a:rPr lang="ru-RU" sz="1600" dirty="0" smtClean="0">
                <a:latin typeface="Rostov" pitchFamily="2" charset="0"/>
              </a:rPr>
              <a:t>различными вероятностями</a:t>
            </a:r>
            <a:r>
              <a:rPr lang="ru-RU" sz="1600" dirty="0">
                <a:latin typeface="Rostov" pitchFamily="2" charset="0"/>
              </a:rPr>
              <a:t>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304829" y="2978113"/>
                <a:ext cx="5125212" cy="95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US" sz="4000" dirty="0" smtClean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func>
                          <m:func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4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f>
                              <m:fPr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e>
                        </m:func>
                      </m:e>
                    </m:nary>
                  </m:oMath>
                </a14:m>
                <a:endParaRPr lang="ru-RU" sz="4000" dirty="0">
                  <a:latin typeface="Rostov" pitchFamily="2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829" y="2978113"/>
                <a:ext cx="5125212" cy="952505"/>
              </a:xfrm>
              <a:prstGeom prst="rect">
                <a:avLst/>
              </a:prstGeom>
              <a:blipFill>
                <a:blip r:embed="rId2"/>
                <a:stretch>
                  <a:fillRect l="-5945" t="-5128" b="-96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Прямая соединительная линия 6"/>
          <p:cNvCxnSpPr/>
          <p:nvPr/>
        </p:nvCxnSpPr>
        <p:spPr>
          <a:xfrm flipH="1">
            <a:off x="3646461" y="3622894"/>
            <a:ext cx="658368" cy="658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1765461" y="4399052"/>
            <a:ext cx="3006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>
                <a:latin typeface="Rostov" pitchFamily="2" charset="0"/>
              </a:rPr>
              <a:t>среднее количество информации, полученное при выборе любого из </a:t>
            </a:r>
            <a:r>
              <a:rPr lang="en-US" sz="1400" dirty="0" smtClean="0">
                <a:latin typeface="Rostov" pitchFamily="2" charset="0"/>
              </a:rPr>
              <a:t>N</a:t>
            </a:r>
            <a:endParaRPr lang="ru-RU" sz="1400" dirty="0" smtClean="0">
              <a:latin typeface="Rostov" pitchFamily="2" charset="0"/>
            </a:endParaRPr>
          </a:p>
          <a:p>
            <a:pPr algn="ctr"/>
            <a:r>
              <a:rPr lang="ru-RU" sz="1400" dirty="0">
                <a:latin typeface="Rostov" pitchFamily="2" charset="0"/>
              </a:rPr>
              <a:t>в</a:t>
            </a:r>
            <a:r>
              <a:rPr lang="ru-RU" sz="1400" dirty="0" smtClean="0">
                <a:latin typeface="Rostov" pitchFamily="2" charset="0"/>
              </a:rPr>
              <a:t>озможных вариантов</a:t>
            </a:r>
            <a:endParaRPr lang="ru-RU" sz="1400" dirty="0">
              <a:latin typeface="Rostov" pitchFamily="2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flipV="1">
            <a:off x="5594423" y="2509679"/>
            <a:ext cx="219456" cy="5352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71553" y="1939119"/>
            <a:ext cx="2359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Rostov" pitchFamily="2" charset="0"/>
              </a:rPr>
              <a:t>к</a:t>
            </a:r>
            <a:r>
              <a:rPr lang="ru-RU" sz="1400" dirty="0" smtClean="0">
                <a:latin typeface="Rostov" pitchFamily="2" charset="0"/>
              </a:rPr>
              <a:t>оличество возможных вариантов</a:t>
            </a:r>
            <a:endParaRPr lang="ru-RU" sz="1400" dirty="0">
              <a:latin typeface="Rostov" pitchFamily="2" charset="0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6542531" y="3851046"/>
            <a:ext cx="466344" cy="6949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90484" y="4631906"/>
            <a:ext cx="2289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Rostov" pitchFamily="2" charset="0"/>
              </a:rPr>
              <a:t>в</a:t>
            </a:r>
            <a:r>
              <a:rPr lang="ru-RU" sz="1400" dirty="0" smtClean="0">
                <a:latin typeface="Rostov" pitchFamily="2" charset="0"/>
              </a:rPr>
              <a:t>ероятность </a:t>
            </a:r>
            <a:r>
              <a:rPr lang="en-US" sz="1400" dirty="0" err="1" smtClean="0">
                <a:latin typeface="Rostov" pitchFamily="2" charset="0"/>
              </a:rPr>
              <a:t>i</a:t>
            </a:r>
            <a:r>
              <a:rPr lang="en-US" sz="1400" dirty="0" smtClean="0">
                <a:latin typeface="Rostov" pitchFamily="2" charset="0"/>
              </a:rPr>
              <a:t>-</a:t>
            </a:r>
            <a:r>
              <a:rPr lang="ru-RU" sz="1400" dirty="0" err="1" smtClean="0">
                <a:latin typeface="Rostov" pitchFamily="2" charset="0"/>
              </a:rPr>
              <a:t>го</a:t>
            </a:r>
            <a:r>
              <a:rPr lang="ru-RU" sz="1400" dirty="0" smtClean="0">
                <a:latin typeface="Rostov" pitchFamily="2" charset="0"/>
              </a:rPr>
              <a:t> события</a:t>
            </a:r>
            <a:endParaRPr lang="ru-RU" sz="1400" dirty="0">
              <a:latin typeface="Rostov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09197" y="566757"/>
            <a:ext cx="3483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Rostov" pitchFamily="2" charset="0"/>
              </a:rPr>
              <a:t>Применение</a:t>
            </a:r>
            <a:endParaRPr lang="ru-RU" sz="2800" dirty="0">
              <a:latin typeface="Rostov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38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/>
          <p:cNvCxnSpPr/>
          <p:nvPr/>
        </p:nvCxnSpPr>
        <p:spPr>
          <a:xfrm>
            <a:off x="5989320" y="1207008"/>
            <a:ext cx="0" cy="49011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03704" y="1271016"/>
            <a:ext cx="212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Rostov" pitchFamily="2" charset="0"/>
              </a:rPr>
              <a:t>Формула Хартли</a:t>
            </a:r>
            <a:endParaRPr lang="ru-RU" dirty="0">
              <a:latin typeface="Rostov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7210" y="1271016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Rostov" pitchFamily="2" charset="0"/>
              </a:rPr>
              <a:t>Формула Шеннона</a:t>
            </a:r>
            <a:endParaRPr lang="ru-RU" dirty="0">
              <a:latin typeface="Rostov" pitchFamily="2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1216152" y="2176272"/>
            <a:ext cx="585216" cy="53035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2358390" y="2176272"/>
            <a:ext cx="585216" cy="53035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Овал 9"/>
          <p:cNvSpPr/>
          <p:nvPr/>
        </p:nvSpPr>
        <p:spPr>
          <a:xfrm>
            <a:off x="7021068" y="2124456"/>
            <a:ext cx="585216" cy="53035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8157210" y="2115312"/>
            <a:ext cx="585216" cy="53035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10429494" y="2151888"/>
            <a:ext cx="585216" cy="53035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9293352" y="2124456"/>
            <a:ext cx="585216" cy="53035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4642866" y="2151888"/>
            <a:ext cx="585216" cy="53035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3500628" y="2151888"/>
            <a:ext cx="585216" cy="53035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1368552" y="449056"/>
            <a:ext cx="935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Rostov" pitchFamily="2" charset="0"/>
              </a:rPr>
              <a:t>Какое количество информации получит Петя, если он возьмёт любой шарик?</a:t>
            </a:r>
            <a:endParaRPr lang="ru-RU" dirty="0">
              <a:latin typeface="Rostov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65020" y="2819959"/>
            <a:ext cx="3456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Rostov" pitchFamily="2" charset="0"/>
              </a:rPr>
              <a:t>р</a:t>
            </a:r>
            <a:r>
              <a:rPr lang="ru-RU" sz="1400" dirty="0" smtClean="0">
                <a:latin typeface="Rostov" pitchFamily="2" charset="0"/>
              </a:rPr>
              <a:t>авновероятное </a:t>
            </a:r>
            <a:r>
              <a:rPr lang="ru-RU" sz="1400" dirty="0" smtClean="0">
                <a:latin typeface="Rostov" pitchFamily="2" charset="0"/>
              </a:rPr>
              <a:t>событие </a:t>
            </a:r>
            <a:endParaRPr lang="ru-RU" sz="1400" dirty="0">
              <a:latin typeface="Rostov" pitchFamily="2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7828594" y="2798170"/>
            <a:ext cx="2526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 err="1" smtClean="0">
                <a:latin typeface="Rostov" pitchFamily="2" charset="0"/>
              </a:rPr>
              <a:t>неравновероятное</a:t>
            </a:r>
            <a:r>
              <a:rPr lang="ru-RU" sz="1400" dirty="0" smtClean="0">
                <a:latin typeface="Rostov" pitchFamily="2" charset="0"/>
              </a:rPr>
              <a:t> </a:t>
            </a:r>
            <a:r>
              <a:rPr lang="ru-RU" sz="1400" dirty="0">
                <a:latin typeface="Rostov" pitchFamily="2" charset="0"/>
              </a:rPr>
              <a:t>событие </a:t>
            </a:r>
            <a:endParaRPr lang="ru-RU" sz="1400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2408669" y="3457253"/>
                <a:ext cx="15186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 err="1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endParaRPr lang="ru-RU" sz="2400" i="1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669" y="3457253"/>
                <a:ext cx="1518685" cy="369332"/>
              </a:xfrm>
              <a:prstGeom prst="rect">
                <a:avLst/>
              </a:prstGeom>
              <a:blipFill>
                <a:blip r:embed="rId2"/>
                <a:stretch>
                  <a:fillRect l="-8835" t="-27869" r="-6024" b="-459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Прямая соединительная линия 26"/>
          <p:cNvCxnSpPr/>
          <p:nvPr/>
        </p:nvCxnSpPr>
        <p:spPr>
          <a:xfrm flipV="1">
            <a:off x="3927354" y="3364920"/>
            <a:ext cx="222693" cy="18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47328" y="3087921"/>
            <a:ext cx="148187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Rostov" pitchFamily="2" charset="0"/>
              </a:rPr>
              <a:t>к</a:t>
            </a:r>
            <a:r>
              <a:rPr lang="ru-RU" sz="1100" dirty="0" smtClean="0">
                <a:latin typeface="Rostov" pitchFamily="2" charset="0"/>
              </a:rPr>
              <a:t>оличество возможных исходов</a:t>
            </a:r>
            <a:endParaRPr lang="ru-RU" sz="1100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2728471" y="3990093"/>
                <a:ext cx="8725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471" y="3990093"/>
                <a:ext cx="872547" cy="369332"/>
              </a:xfrm>
              <a:prstGeom prst="rect">
                <a:avLst/>
              </a:prstGeom>
              <a:blipFill>
                <a:blip r:embed="rId3"/>
                <a:stretch>
                  <a:fillRect l="-8392" r="-7692"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Прямая со стрелкой 31"/>
          <p:cNvCxnSpPr/>
          <p:nvPr/>
        </p:nvCxnSpPr>
        <p:spPr>
          <a:xfrm flipH="1">
            <a:off x="2319050" y="4307347"/>
            <a:ext cx="458720" cy="2732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3589776" y="4307347"/>
            <a:ext cx="406919" cy="2732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97132" y="4620255"/>
            <a:ext cx="2611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latin typeface="Rostov" pitchFamily="2" charset="0"/>
              </a:rPr>
              <a:t>Петя возьмёт серый шарик </a:t>
            </a:r>
            <a:endParaRPr lang="ru-RU" sz="1400" dirty="0">
              <a:latin typeface="Rostov" pitchFamily="2" charset="0"/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3373295" y="4599879"/>
            <a:ext cx="26292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latin typeface="Rostov" pitchFamily="2" charset="0"/>
              </a:rPr>
              <a:t>Петя возьмёт </a:t>
            </a:r>
            <a:r>
              <a:rPr lang="ru-RU" sz="1400" dirty="0" smtClean="0">
                <a:latin typeface="Rostov" pitchFamily="2" charset="0"/>
              </a:rPr>
              <a:t>белый </a:t>
            </a:r>
            <a:r>
              <a:rPr lang="ru-RU" sz="1400" dirty="0">
                <a:latin typeface="Rostov" pitchFamily="2" charset="0"/>
              </a:rPr>
              <a:t>шарик </a:t>
            </a:r>
            <a:endParaRPr lang="ru-RU" sz="1400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Прямоугольник 41"/>
              <p:cNvSpPr/>
              <p:nvPr/>
            </p:nvSpPr>
            <p:spPr>
              <a:xfrm>
                <a:off x="1899713" y="5271219"/>
                <a:ext cx="27308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2=1 бит</m:t>
                        </m:r>
                      </m:e>
                    </m:func>
                  </m:oMath>
                </a14:m>
                <a:endParaRPr lang="ru-RU" sz="2400" dirty="0"/>
              </a:p>
            </p:txBody>
          </p:sp>
        </mc:Choice>
        <mc:Fallback>
          <p:sp>
            <p:nvSpPr>
              <p:cNvPr id="42" name="Прямоугольник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713" y="5271219"/>
                <a:ext cx="2730812" cy="461665"/>
              </a:xfrm>
              <a:prstGeom prst="rect">
                <a:avLst/>
              </a:prstGeom>
              <a:blipFill>
                <a:blip r:embed="rId4"/>
                <a:stretch>
                  <a:fillRect l="-3571" t="-13333" b="-2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Прямоугольник 42"/>
              <p:cNvSpPr/>
              <p:nvPr/>
            </p:nvSpPr>
            <p:spPr>
              <a:xfrm>
                <a:off x="7288911" y="3258453"/>
                <a:ext cx="4294381" cy="5288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US" dirty="0"/>
                  <a:t> </a:t>
                </a:r>
                <a:r>
                  <a:rPr lang="ru-RU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ч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ч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с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с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б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ru-RU" dirty="0" smtClean="0">
                    <a:latin typeface="Rostov" pitchFamily="2" charset="0"/>
                  </a:rPr>
                  <a:t> </a:t>
                </a:r>
                <a:endParaRPr lang="ru-RU" dirty="0">
                  <a:latin typeface="Rostov" pitchFamily="2" charset="0"/>
                </a:endParaRPr>
              </a:p>
            </p:txBody>
          </p:sp>
        </mc:Choice>
        <mc:Fallback>
          <p:sp>
            <p:nvSpPr>
              <p:cNvPr id="43" name="Прямоугольник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911" y="3258453"/>
                <a:ext cx="4294381" cy="528863"/>
              </a:xfrm>
              <a:prstGeom prst="rect">
                <a:avLst/>
              </a:prstGeom>
              <a:blipFill>
                <a:blip r:embed="rId5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7021068" y="3915457"/>
                <a:ext cx="752321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068" y="3915457"/>
                <a:ext cx="752321" cy="51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8849669" y="3915457"/>
                <a:ext cx="736291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669" y="3915457"/>
                <a:ext cx="736291" cy="5186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Прямоугольник 47"/>
              <p:cNvSpPr/>
              <p:nvPr/>
            </p:nvSpPr>
            <p:spPr>
              <a:xfrm>
                <a:off x="10429494" y="3872357"/>
                <a:ext cx="940321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б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8" name="Прямоугольник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9494" y="3872357"/>
                <a:ext cx="940321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Прямоугольник 49"/>
              <p:cNvSpPr/>
              <p:nvPr/>
            </p:nvSpPr>
            <p:spPr>
              <a:xfrm>
                <a:off x="6002541" y="4686070"/>
                <a:ext cx="6433299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</m:func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func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=0,5+0,5+0,5=1,5</m:t>
                    </m:r>
                  </m:oMath>
                </a14:m>
                <a:r>
                  <a:rPr lang="en-US" dirty="0" smtClean="0"/>
                  <a:t> </a:t>
                </a:r>
                <a:endParaRPr lang="ru-RU" dirty="0"/>
              </a:p>
            </p:txBody>
          </p:sp>
        </mc:Choice>
        <mc:Fallback>
          <p:sp>
            <p:nvSpPr>
              <p:cNvPr id="50" name="Прямоугольник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541" y="4686070"/>
                <a:ext cx="6433299" cy="483466"/>
              </a:xfrm>
              <a:prstGeom prst="rect">
                <a:avLst/>
              </a:prstGeom>
              <a:blipFill>
                <a:blip r:embed="rId9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/>
          <p:cNvSpPr txBox="1"/>
          <p:nvPr/>
        </p:nvSpPr>
        <p:spPr>
          <a:xfrm>
            <a:off x="8279779" y="5271219"/>
            <a:ext cx="1842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H = 2 </a:t>
            </a:r>
            <a:r>
              <a:rPr lang="ru-RU" sz="240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бита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60255" y="3278720"/>
            <a:ext cx="11278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100" dirty="0">
                <a:latin typeface="Rostov" pitchFamily="2" charset="0"/>
              </a:rPr>
              <a:t>к</a:t>
            </a:r>
            <a:r>
              <a:rPr lang="ru-RU" sz="1100" dirty="0" smtClean="0">
                <a:latin typeface="Rostov" pitchFamily="2" charset="0"/>
              </a:rPr>
              <a:t>оличество информации в каждом исходе</a:t>
            </a:r>
            <a:endParaRPr lang="ru-RU" sz="1100" dirty="0">
              <a:latin typeface="Rostov" pitchFamily="2" charset="0"/>
            </a:endParaRPr>
          </a:p>
        </p:txBody>
      </p:sp>
      <p:cxnSp>
        <p:nvCxnSpPr>
          <p:cNvPr id="54" name="Прямая соединительная линия 53"/>
          <p:cNvCxnSpPr>
            <a:stCxn id="23" idx="1"/>
          </p:cNvCxnSpPr>
          <p:nvPr/>
        </p:nvCxnSpPr>
        <p:spPr>
          <a:xfrm flipH="1" flipV="1">
            <a:off x="1988788" y="3457253"/>
            <a:ext cx="419881" cy="18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21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7912" y="448056"/>
            <a:ext cx="45736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latin typeface="Rostov" pitchFamily="2" charset="0"/>
              </a:rPr>
              <a:t>Вывод формулы Шеннона</a:t>
            </a:r>
            <a:endParaRPr lang="ru-RU" sz="2800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165860" y="1371599"/>
                <a:ext cx="17643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(1)</m:t>
                      </m:r>
                      <m:r>
                        <m:rPr>
                          <m:nor/>
                        </m:rPr>
                        <a:rPr lang="ru-RU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func>
                    </m:oMath>
                  </m:oMathPara>
                </a14:m>
                <a:endParaRPr lang="ru-RU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860" y="1371599"/>
                <a:ext cx="1764329" cy="307777"/>
              </a:xfrm>
              <a:prstGeom prst="rect">
                <a:avLst/>
              </a:prstGeom>
              <a:blipFill>
                <a:blip r:embed="rId2"/>
                <a:stretch>
                  <a:fillRect l="-4828" t="-2000" r="-2759" b="-3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3008376" y="1525487"/>
            <a:ext cx="6126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12464" y="1340821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Rostov" pitchFamily="2" charset="0"/>
              </a:rPr>
              <a:t>формула Хартли</a:t>
            </a:r>
            <a:endParaRPr lang="ru-RU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092707" y="1828800"/>
                <a:ext cx="13724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 </a:t>
                </a:r>
                <a:r>
                  <a:rPr lang="en-US" sz="2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 = k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</a:t>
                </a:r>
                <a:endParaRPr lang="ru-RU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707" y="1828800"/>
                <a:ext cx="1372492" cy="400110"/>
              </a:xfrm>
              <a:prstGeom prst="rect">
                <a:avLst/>
              </a:prstGeom>
              <a:blipFill>
                <a:blip r:embed="rId3"/>
                <a:stretch>
                  <a:fillRect l="-4444" t="-7576" r="-4444" b="-25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Прямая соединительная линия 11"/>
          <p:cNvCxnSpPr/>
          <p:nvPr/>
        </p:nvCxnSpPr>
        <p:spPr>
          <a:xfrm>
            <a:off x="2519600" y="2019711"/>
            <a:ext cx="6126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99932" y="1844189"/>
            <a:ext cx="846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Rostov" pitchFamily="2" charset="0"/>
              </a:rPr>
              <a:t>k – </a:t>
            </a:r>
            <a:r>
              <a:rPr lang="ru-RU" dirty="0" smtClean="0">
                <a:latin typeface="Rostov" pitchFamily="2" charset="0"/>
              </a:rPr>
              <a:t>количество символов в сообщении;</a:t>
            </a:r>
            <a:r>
              <a:rPr lang="en-US" dirty="0" smtClean="0">
                <a:latin typeface="Rostov" pitchFamily="2" charset="0"/>
              </a:rPr>
              <a:t> I</a:t>
            </a:r>
            <a:r>
              <a:rPr lang="ru-RU" dirty="0" smtClean="0">
                <a:latin typeface="Rostov" pitchFamily="2" charset="0"/>
              </a:rPr>
              <a:t> – общее количество информации</a:t>
            </a:r>
            <a:r>
              <a:rPr lang="en-US" dirty="0" smtClean="0">
                <a:latin typeface="Rostov" pitchFamily="2" charset="0"/>
              </a:rPr>
              <a:t> </a:t>
            </a:r>
            <a:endParaRPr lang="ru-RU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092707" y="2348676"/>
                <a:ext cx="1250407" cy="5734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(3) </a:t>
                </a:r>
                <a:r>
                  <a:rPr lang="en-US" sz="2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б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о</m:t>
                            </m:r>
                          </m:sub>
                        </m:sSub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707" y="2348676"/>
                <a:ext cx="1250407" cy="573427"/>
              </a:xfrm>
              <a:prstGeom prst="rect">
                <a:avLst/>
              </a:prstGeom>
              <a:blipFill>
                <a:blip r:embed="rId4"/>
                <a:stretch>
                  <a:fillRect l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Прямая соединительная линия 15"/>
          <p:cNvCxnSpPr/>
          <p:nvPr/>
        </p:nvCxnSpPr>
        <p:spPr>
          <a:xfrm>
            <a:off x="2465199" y="2635389"/>
            <a:ext cx="6126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99932" y="2355369"/>
            <a:ext cx="858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Rostov" pitchFamily="2" charset="0"/>
              </a:rPr>
              <a:t>k</a:t>
            </a:r>
            <a:r>
              <a:rPr lang="ru-RU" sz="1200" dirty="0" smtClean="0">
                <a:latin typeface="Rostov" pitchFamily="2" charset="0"/>
              </a:rPr>
              <a:t>б</a:t>
            </a:r>
            <a:r>
              <a:rPr lang="en-US" dirty="0" smtClean="0">
                <a:latin typeface="Rostov" pitchFamily="2" charset="0"/>
              </a:rPr>
              <a:t> </a:t>
            </a:r>
            <a:r>
              <a:rPr lang="ru-RU" dirty="0" smtClean="0">
                <a:latin typeface="Rostov" pitchFamily="2" charset="0"/>
              </a:rPr>
              <a:t>- </a:t>
            </a:r>
            <a:r>
              <a:rPr lang="ru-RU" dirty="0" smtClean="0">
                <a:latin typeface="Rostov" pitchFamily="2" charset="0"/>
              </a:rPr>
              <a:t>количество нужных символов в сообщении; </a:t>
            </a:r>
            <a:r>
              <a:rPr lang="en-US" dirty="0" smtClean="0">
                <a:latin typeface="Rostov" pitchFamily="2" charset="0"/>
              </a:rPr>
              <a:t>k</a:t>
            </a:r>
            <a:r>
              <a:rPr lang="ru-RU" sz="1200" dirty="0">
                <a:latin typeface="Rostov" pitchFamily="2" charset="0"/>
              </a:rPr>
              <a:t>о</a:t>
            </a:r>
            <a:r>
              <a:rPr lang="en-US" dirty="0" smtClean="0">
                <a:latin typeface="Rostov" pitchFamily="2" charset="0"/>
              </a:rPr>
              <a:t> </a:t>
            </a:r>
            <a:r>
              <a:rPr lang="ru-RU" dirty="0" smtClean="0">
                <a:latin typeface="Rostov" pitchFamily="2" charset="0"/>
              </a:rPr>
              <a:t> - </a:t>
            </a:r>
            <a:r>
              <a:rPr lang="ru-RU" dirty="0" smtClean="0">
                <a:latin typeface="Rostov" pitchFamily="2" charset="0"/>
              </a:rPr>
              <a:t>общее количество символов в сообщении</a:t>
            </a:r>
            <a:endParaRPr lang="ru-RU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165860" y="3041869"/>
                <a:ext cx="68134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860" y="3041869"/>
                <a:ext cx="681340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2013048" y="3116505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Rostov" pitchFamily="2" charset="0"/>
              </a:rPr>
              <a:t>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Прямоугольник 20"/>
              <p:cNvSpPr/>
              <p:nvPr/>
            </p:nvSpPr>
            <p:spPr>
              <a:xfrm>
                <a:off x="2385354" y="3116505"/>
                <a:ext cx="8811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б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1" name="Прямоугольник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54" y="3116505"/>
                <a:ext cx="88113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132248" y="3119591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Rostov" pitchFamily="2" charset="0"/>
              </a:rPr>
              <a:t>, тогда</a:t>
            </a:r>
            <a:endParaRPr lang="ru-RU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1092707" y="3692474"/>
                <a:ext cx="7657169" cy="751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ru-RU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  <m:sSub>
                      <m:sSubPr>
                        <m:ctrlPr>
                          <a:rPr lang="ru-RU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ru-RU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б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</m:e>
                    </m:func>
                  </m:oMath>
                </a14:m>
                <a:r>
                  <a:rPr lang="en-US" sz="2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ru-RU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б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</m:e>
                    </m:func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endParaRPr lang="ru-RU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707" y="3692474"/>
                <a:ext cx="7657169" cy="7513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Прямая со стрелкой 26"/>
          <p:cNvCxnSpPr/>
          <p:nvPr/>
        </p:nvCxnSpPr>
        <p:spPr>
          <a:xfrm flipV="1">
            <a:off x="4044677" y="3625223"/>
            <a:ext cx="357885" cy="4841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4313363" y="3375807"/>
                <a:ext cx="4782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363" y="3375807"/>
                <a:ext cx="478208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8067763" y="3692474"/>
            <a:ext cx="4910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Rostov" pitchFamily="2" charset="0"/>
              </a:rPr>
              <a:t>p</a:t>
            </a:r>
            <a:r>
              <a:rPr lang="en-US" sz="1200" dirty="0" err="1" smtClean="0">
                <a:latin typeface="Rostov" pitchFamily="2" charset="0"/>
              </a:rPr>
              <a:t>n</a:t>
            </a:r>
            <a:r>
              <a:rPr lang="en-US" dirty="0" smtClean="0">
                <a:latin typeface="Rostov" pitchFamily="2" charset="0"/>
              </a:rPr>
              <a:t>- </a:t>
            </a:r>
            <a:r>
              <a:rPr lang="ru-RU" dirty="0" smtClean="0">
                <a:latin typeface="Rostov" pitchFamily="2" charset="0"/>
              </a:rPr>
              <a:t>вероятность </a:t>
            </a:r>
            <a:r>
              <a:rPr lang="en-US" dirty="0" smtClean="0">
                <a:latin typeface="Rostov" pitchFamily="2" charset="0"/>
              </a:rPr>
              <a:t>n-</a:t>
            </a:r>
            <a:r>
              <a:rPr lang="ru-RU" dirty="0" err="1" smtClean="0">
                <a:latin typeface="Rostov" pitchFamily="2" charset="0"/>
              </a:rPr>
              <a:t>го</a:t>
            </a:r>
            <a:r>
              <a:rPr lang="ru-RU" dirty="0" smtClean="0">
                <a:latin typeface="Rostov" pitchFamily="2" charset="0"/>
              </a:rPr>
              <a:t> символа из </a:t>
            </a:r>
            <a:r>
              <a:rPr lang="en-US" dirty="0" smtClean="0">
                <a:latin typeface="Rostov" pitchFamily="2" charset="0"/>
              </a:rPr>
              <a:t>N-</a:t>
            </a:r>
            <a:r>
              <a:rPr lang="ru-RU" dirty="0" smtClean="0">
                <a:latin typeface="Rostov" pitchFamily="2" charset="0"/>
              </a:rPr>
              <a:t>символьного алфавита</a:t>
            </a:r>
            <a:r>
              <a:rPr lang="en-US" dirty="0" smtClean="0">
                <a:latin typeface="Rostov" pitchFamily="2" charset="0"/>
              </a:rPr>
              <a:t> </a:t>
            </a:r>
            <a:endParaRPr lang="ru-RU" dirty="0">
              <a:latin typeface="Rostov" pitchFamily="2" charset="0"/>
            </a:endParaRPr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>
            <a:off x="7334757" y="3883827"/>
            <a:ext cx="6126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092708" y="4300712"/>
                <a:ext cx="10573004" cy="6260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m:rPr>
                        <m:nor/>
                      </m:rPr>
                      <a:rPr lang="ru-RU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ru-RU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…+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…−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func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∙ 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sz="2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ru-RU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708" y="4300712"/>
                <a:ext cx="10573004" cy="626069"/>
              </a:xfrm>
              <a:prstGeom prst="rect">
                <a:avLst/>
              </a:prstGeom>
              <a:blipFill>
                <a:blip r:embed="rId9"/>
                <a:stretch>
                  <a:fillRect l="-1153" t="-83495" b="-1252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Прямая соединительная линия 36"/>
          <p:cNvCxnSpPr/>
          <p:nvPr/>
        </p:nvCxnSpPr>
        <p:spPr>
          <a:xfrm>
            <a:off x="8441600" y="5139786"/>
            <a:ext cx="522987" cy="4077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964587" y="5482354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Rostov" pitchFamily="2" charset="0"/>
              </a:rPr>
              <a:t>Формула Шеннона</a:t>
            </a:r>
            <a:endParaRPr lang="ru-RU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1165860" y="5482354"/>
                <a:ext cx="600222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>
                    <a:latin typeface="Rostov" pitchFamily="2" charset="0"/>
                  </a:rPr>
                  <a:t>Прим: т. к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</m:t>
                    </m:r>
                  </m:oMath>
                </a14:m>
                <a:r>
                  <a:rPr lang="ru-RU" dirty="0" smtClean="0">
                    <a:latin typeface="Rostov" pitchFamily="2" charset="0"/>
                  </a:rPr>
                  <a:t> то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0 </m:t>
                        </m:r>
                      </m:e>
                    </m:func>
                  </m:oMath>
                </a14:m>
                <a:r>
                  <a:rPr lang="ru-RU" dirty="0" smtClean="0">
                    <a:latin typeface="Rostov" pitchFamily="2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ru-RU" dirty="0" smtClean="0">
                    <a:latin typeface="Rostov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</m:t>
                    </m:r>
                  </m:oMath>
                </a14:m>
                <a:r>
                  <a:rPr lang="ru-RU" dirty="0" smtClean="0">
                    <a:latin typeface="Rostov" pitchFamily="2" charset="0"/>
                  </a:rPr>
                  <a:t> т.к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 smtClean="0">
                    <a:latin typeface="Rostov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dirty="0" smtClean="0">
                    <a:latin typeface="Rostov" pitchFamily="2" charset="0"/>
                  </a:rPr>
                  <a:t> </a:t>
                </a:r>
                <a:endParaRPr lang="ru-RU" dirty="0">
                  <a:latin typeface="Rostov" pitchFamily="2" charset="0"/>
                </a:endParaRPr>
              </a:p>
              <a:p>
                <a:endParaRPr lang="ru-RU" dirty="0">
                  <a:latin typeface="Rostov" pitchFamily="2" charset="0"/>
                </a:endParaRPr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860" y="5482354"/>
                <a:ext cx="6002221" cy="646331"/>
              </a:xfrm>
              <a:prstGeom prst="rect">
                <a:avLst/>
              </a:prstGeom>
              <a:blipFill>
                <a:blip r:embed="rId10"/>
                <a:stretch>
                  <a:fillRect l="-812" t="-47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77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85232" y="557784"/>
            <a:ext cx="1428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latin typeface="Rostov" pitchFamily="2" charset="0"/>
              </a:rPr>
              <a:t>Задача</a:t>
            </a:r>
            <a:endParaRPr lang="ru-RU" sz="2800" dirty="0">
              <a:latin typeface="Rostov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5354" y="3001244"/>
            <a:ext cx="107676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Rostov" pitchFamily="2" charset="0"/>
              </a:rPr>
              <a:t>Какое </a:t>
            </a:r>
            <a:r>
              <a:rPr lang="ru-RU" dirty="0" smtClean="0">
                <a:latin typeface="Rostov" pitchFamily="2" charset="0"/>
              </a:rPr>
              <a:t>количество информации </a:t>
            </a:r>
            <a:r>
              <a:rPr lang="ru-RU" dirty="0" smtClean="0">
                <a:latin typeface="Rostov" pitchFamily="2" charset="0"/>
              </a:rPr>
              <a:t>содержит следующее сообщение:</a:t>
            </a:r>
          </a:p>
          <a:p>
            <a:pPr algn="ctr"/>
            <a:r>
              <a:rPr lang="ru-RU" dirty="0" smtClean="0">
                <a:latin typeface="Rostov" pitchFamily="2" charset="0"/>
              </a:rPr>
              <a:t>Бабушка приготовила </a:t>
            </a:r>
            <a:r>
              <a:rPr lang="ru-RU" dirty="0">
                <a:latin typeface="Rostov" pitchFamily="2" charset="0"/>
              </a:rPr>
              <a:t>8 </a:t>
            </a:r>
            <a:r>
              <a:rPr lang="ru-RU" dirty="0" smtClean="0">
                <a:latin typeface="Rostov" pitchFamily="2" charset="0"/>
              </a:rPr>
              <a:t>пицц и 16 </a:t>
            </a:r>
            <a:r>
              <a:rPr lang="ru-RU" dirty="0" err="1" smtClean="0">
                <a:latin typeface="Rostov" pitchFamily="2" charset="0"/>
              </a:rPr>
              <a:t>бургеров</a:t>
            </a:r>
            <a:r>
              <a:rPr lang="ru-RU" dirty="0" smtClean="0">
                <a:latin typeface="Rostov" pitchFamily="2" charset="0"/>
              </a:rPr>
              <a:t> с говяжьей котлетой. Надя </a:t>
            </a:r>
            <a:r>
              <a:rPr lang="ru-RU" dirty="0">
                <a:latin typeface="Rostov" pitchFamily="2" charset="0"/>
              </a:rPr>
              <a:t>съела один </a:t>
            </a:r>
            <a:r>
              <a:rPr lang="ru-RU" dirty="0" smtClean="0">
                <a:latin typeface="Rostov" pitchFamily="2" charset="0"/>
              </a:rPr>
              <a:t>деликатес?</a:t>
            </a:r>
            <a:endParaRPr lang="ru-RU" dirty="0">
              <a:latin typeface="Rostov" pitchFamily="2" charset="0"/>
            </a:endParaRP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050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47733" y="880534"/>
            <a:ext cx="1665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latin typeface="Rostov" pitchFamily="2" charset="0"/>
              </a:rPr>
              <a:t>Решение</a:t>
            </a:r>
            <a:endParaRPr lang="ru-RU" sz="2800" dirty="0">
              <a:latin typeface="Rostov" pitchFamily="2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790" y="1742665"/>
            <a:ext cx="491067" cy="49106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55" y="1742665"/>
            <a:ext cx="491067" cy="491067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520" y="1742664"/>
            <a:ext cx="491067" cy="49106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885" y="1717262"/>
            <a:ext cx="491067" cy="491067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790" y="2369198"/>
            <a:ext cx="491067" cy="491067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55" y="2369198"/>
            <a:ext cx="491067" cy="491067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520" y="2369197"/>
            <a:ext cx="491067" cy="491067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885" y="2343795"/>
            <a:ext cx="491067" cy="491067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790" y="3021133"/>
            <a:ext cx="491067" cy="491067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55" y="3021133"/>
            <a:ext cx="491067" cy="49106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520" y="3021132"/>
            <a:ext cx="491067" cy="491067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885" y="2995730"/>
            <a:ext cx="491067" cy="491067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790" y="3673068"/>
            <a:ext cx="491067" cy="491067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55" y="3673068"/>
            <a:ext cx="491067" cy="491067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520" y="3673067"/>
            <a:ext cx="491067" cy="491067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885" y="3647665"/>
            <a:ext cx="491067" cy="491067"/>
          </a:xfrm>
          <a:prstGeom prst="rect">
            <a:avLst/>
          </a:prstGeom>
        </p:spPr>
      </p:pic>
      <p:sp>
        <p:nvSpPr>
          <p:cNvPr id="28" name="Правая фигурная скобка 27"/>
          <p:cNvSpPr/>
          <p:nvPr/>
        </p:nvSpPr>
        <p:spPr>
          <a:xfrm>
            <a:off x="4047191" y="1742664"/>
            <a:ext cx="279400" cy="239606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4508615" y="2740643"/>
            <a:ext cx="1604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latin typeface="Rostov" pitchFamily="2" charset="0"/>
              </a:rPr>
              <a:t>16 </a:t>
            </a:r>
            <a:r>
              <a:rPr lang="ru-RU" sz="2000" dirty="0" err="1" smtClean="0">
                <a:latin typeface="Rostov" pitchFamily="2" charset="0"/>
              </a:rPr>
              <a:t>бургеров</a:t>
            </a:r>
            <a:endParaRPr lang="ru-RU" sz="2000" dirty="0">
              <a:latin typeface="Rostov" pitchFamily="2" charset="0"/>
            </a:endParaRP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907" y="2369197"/>
            <a:ext cx="489600" cy="489600"/>
          </a:xfrm>
          <a:prstGeom prst="rect">
            <a:avLst/>
          </a:prstGeom>
        </p:spPr>
      </p:pic>
      <p:pic>
        <p:nvPicPr>
          <p:cNvPr id="31" name="Рисунок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014" y="2369197"/>
            <a:ext cx="489600" cy="489600"/>
          </a:xfrm>
          <a:prstGeom prst="rect">
            <a:avLst/>
          </a:prstGeom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770" y="2396066"/>
            <a:ext cx="489600" cy="489600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26" y="2396066"/>
            <a:ext cx="489600" cy="489600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907" y="2995730"/>
            <a:ext cx="489600" cy="489600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014" y="2995730"/>
            <a:ext cx="489600" cy="489600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770" y="3022599"/>
            <a:ext cx="489600" cy="489600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26" y="3022599"/>
            <a:ext cx="489600" cy="489600"/>
          </a:xfrm>
          <a:prstGeom prst="rect">
            <a:avLst/>
          </a:prstGeom>
        </p:spPr>
      </p:pic>
      <p:sp>
        <p:nvSpPr>
          <p:cNvPr id="38" name="Правая фигурная скобка 37"/>
          <p:cNvSpPr/>
          <p:nvPr/>
        </p:nvSpPr>
        <p:spPr>
          <a:xfrm>
            <a:off x="9618133" y="2369197"/>
            <a:ext cx="59267" cy="114300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10019785" y="2740643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latin typeface="Rostov" pitchFamily="2" charset="0"/>
              </a:rPr>
              <a:t>8 пицц</a:t>
            </a:r>
            <a:endParaRPr lang="ru-RU" sz="2000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748345" y="4915364"/>
                <a:ext cx="1584343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345" y="4915364"/>
                <a:ext cx="1584343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Прямая соединительная линия 40"/>
          <p:cNvCxnSpPr/>
          <p:nvPr/>
        </p:nvCxnSpPr>
        <p:spPr>
          <a:xfrm flipV="1">
            <a:off x="2339629" y="5223933"/>
            <a:ext cx="238593" cy="14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664641" y="5039267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Rostov" pitchFamily="2" charset="0"/>
              </a:rPr>
              <a:t>вероятность выбора пиццы</a:t>
            </a:r>
            <a:endParaRPr lang="ru-RU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Прямоугольник 43"/>
              <p:cNvSpPr/>
              <p:nvPr/>
            </p:nvSpPr>
            <p:spPr>
              <a:xfrm>
                <a:off x="6425785" y="4915364"/>
                <a:ext cx="1589666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4" name="Прямоугольник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785" y="4915364"/>
                <a:ext cx="1589666" cy="61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Прямая соединительная линия 44"/>
          <p:cNvCxnSpPr/>
          <p:nvPr/>
        </p:nvCxnSpPr>
        <p:spPr>
          <a:xfrm flipV="1">
            <a:off x="8033473" y="5236460"/>
            <a:ext cx="238593" cy="14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8353303" y="5051794"/>
            <a:ext cx="3332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Rostov" pitchFamily="2" charset="0"/>
              </a:rPr>
              <a:t>вероятность выбора </a:t>
            </a:r>
            <a:r>
              <a:rPr lang="ru-RU" dirty="0" err="1" smtClean="0">
                <a:latin typeface="Rostov" pitchFamily="2" charset="0"/>
              </a:rPr>
              <a:t>бургера</a:t>
            </a:r>
            <a:endParaRPr lang="ru-RU" dirty="0">
              <a:latin typeface="Rostov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20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338665" y="841272"/>
            <a:ext cx="4224867" cy="26077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74133" y="1023050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Rostov" pitchFamily="2" charset="0"/>
              </a:rPr>
              <a:t>Важно!</a:t>
            </a:r>
            <a:endParaRPr lang="ru-RU" sz="2000" dirty="0">
              <a:latin typeface="Rostov" pitchFamily="2" charset="0"/>
            </a:endParaRPr>
          </a:p>
        </p:txBody>
      </p:sp>
      <p:graphicFrame>
        <p:nvGraphicFramePr>
          <p:cNvPr id="8" name="Диаграмма 7"/>
          <p:cNvGraphicFramePr/>
          <p:nvPr>
            <p:extLst>
              <p:ext uri="{D42A27DB-BD31-4B8C-83A1-F6EECF244321}">
                <p14:modId xmlns:p14="http://schemas.microsoft.com/office/powerpoint/2010/main" val="1949536386"/>
              </p:ext>
            </p:extLst>
          </p:nvPr>
        </p:nvGraphicFramePr>
        <p:xfrm>
          <a:off x="584198" y="1318367"/>
          <a:ext cx="3733800" cy="1955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Прямоугольник 9"/>
              <p:cNvSpPr/>
              <p:nvPr/>
            </p:nvSpPr>
            <p:spPr>
              <a:xfrm>
                <a:off x="7190788" y="1423160"/>
                <a:ext cx="2913362" cy="5177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US" dirty="0"/>
                  <a:t> </a:t>
                </a:r>
                <a:r>
                  <a:rPr lang="ru-RU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788" y="1423160"/>
                <a:ext cx="2913362" cy="517770"/>
              </a:xfrm>
              <a:prstGeom prst="rect">
                <a:avLst/>
              </a:prstGeom>
              <a:blipFill>
                <a:blip r:embed="rId3"/>
                <a:stretch>
                  <a:fillRect l="-1883" b="-23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183059" y="838384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Rostov" pitchFamily="2" charset="0"/>
              </a:rPr>
              <a:t>Применим формулу Шеннона:</a:t>
            </a:r>
            <a:endParaRPr lang="ru-RU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Прямоугольник 11"/>
              <p:cNvSpPr/>
              <p:nvPr/>
            </p:nvSpPr>
            <p:spPr>
              <a:xfrm>
                <a:off x="6769872" y="2296268"/>
                <a:ext cx="3755194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1,5</m:t>
                          </m:r>
                        </m:e>
                      </m:func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0,92 </m:t>
                      </m:r>
                    </m:oMath>
                  </m:oMathPara>
                </a14:m>
                <a:endParaRPr lang="ru-RU" b="0" dirty="0" smtClean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872" y="2296268"/>
                <a:ext cx="3755194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Прямоугольник 12"/>
          <p:cNvSpPr/>
          <p:nvPr/>
        </p:nvSpPr>
        <p:spPr>
          <a:xfrm>
            <a:off x="7912813" y="3264338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H = </a:t>
            </a:r>
            <a:r>
              <a:rPr lang="ru-RU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 бит</a:t>
            </a:r>
            <a:endParaRPr lang="ru-RU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0467" y="5681135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Rostov" pitchFamily="2" charset="0"/>
              </a:rPr>
              <a:t>Ответ: 1 бит</a:t>
            </a:r>
            <a:endParaRPr lang="ru-RU" dirty="0">
              <a:latin typeface="Rostov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11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9067" y="381000"/>
            <a:ext cx="2274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latin typeface="Rostov" pitchFamily="2" charset="0"/>
              </a:rPr>
              <a:t>Примечание</a:t>
            </a:r>
            <a:endParaRPr lang="ru-RU" sz="2800" dirty="0">
              <a:latin typeface="Rostov" pitchFamily="2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6217594" y="1191327"/>
            <a:ext cx="0" cy="49011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03704" y="1271016"/>
            <a:ext cx="212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Rostov" pitchFamily="2" charset="0"/>
              </a:rPr>
              <a:t>Формула Хартли</a:t>
            </a:r>
            <a:endParaRPr lang="ru-RU" dirty="0">
              <a:latin typeface="Rostov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57210" y="1271016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Rostov" pitchFamily="2" charset="0"/>
              </a:rPr>
              <a:t>Формула Шеннона</a:t>
            </a:r>
            <a:endParaRPr lang="ru-RU" dirty="0">
              <a:latin typeface="Rostov" pitchFamily="2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087489" y="2143581"/>
            <a:ext cx="585216" cy="53035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4209790" y="2140533"/>
            <a:ext cx="585216" cy="53035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2268479" y="2813806"/>
            <a:ext cx="3456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Rostov" pitchFamily="2" charset="0"/>
              </a:rPr>
              <a:t>р</a:t>
            </a:r>
            <a:r>
              <a:rPr lang="ru-RU" sz="1400" dirty="0" smtClean="0">
                <a:latin typeface="Rostov" pitchFamily="2" charset="0"/>
              </a:rPr>
              <a:t>авновероятное </a:t>
            </a:r>
            <a:r>
              <a:rPr lang="ru-RU" sz="1400" dirty="0" smtClean="0">
                <a:latin typeface="Rostov" pitchFamily="2" charset="0"/>
              </a:rPr>
              <a:t>событие </a:t>
            </a:r>
            <a:endParaRPr lang="ru-RU" sz="1400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408669" y="3457253"/>
                <a:ext cx="15186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 err="1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endParaRPr lang="ru-RU" sz="2400" i="1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669" y="3457253"/>
                <a:ext cx="1518685" cy="369332"/>
              </a:xfrm>
              <a:prstGeom prst="rect">
                <a:avLst/>
              </a:prstGeom>
              <a:blipFill>
                <a:blip r:embed="rId2"/>
                <a:stretch>
                  <a:fillRect l="-8835" t="-27869" r="-6024" b="-459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Прямая соединительная линия 17"/>
          <p:cNvCxnSpPr/>
          <p:nvPr/>
        </p:nvCxnSpPr>
        <p:spPr>
          <a:xfrm flipV="1">
            <a:off x="3927354" y="3364920"/>
            <a:ext cx="222693" cy="18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47328" y="3087921"/>
            <a:ext cx="148187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Rostov" pitchFamily="2" charset="0"/>
              </a:rPr>
              <a:t>к</a:t>
            </a:r>
            <a:r>
              <a:rPr lang="ru-RU" sz="1100" dirty="0" smtClean="0">
                <a:latin typeface="Rostov" pitchFamily="2" charset="0"/>
              </a:rPr>
              <a:t>оличество возможных исходов</a:t>
            </a:r>
            <a:endParaRPr lang="ru-RU" sz="1100" dirty="0">
              <a:latin typeface="Rostov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728471" y="3990093"/>
                <a:ext cx="8725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471" y="3990093"/>
                <a:ext cx="872547" cy="369332"/>
              </a:xfrm>
              <a:prstGeom prst="rect">
                <a:avLst/>
              </a:prstGeom>
              <a:blipFill>
                <a:blip r:embed="rId3"/>
                <a:stretch>
                  <a:fillRect l="-8392" r="-7692"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Прямоугольник 23"/>
              <p:cNvSpPr/>
              <p:nvPr/>
            </p:nvSpPr>
            <p:spPr>
              <a:xfrm>
                <a:off x="1769062" y="4485089"/>
                <a:ext cx="330308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3=1,585 бит</m:t>
                        </m:r>
                      </m:e>
                    </m:func>
                  </m:oMath>
                </a14:m>
                <a:endParaRPr lang="ru-RU" sz="2400" dirty="0"/>
              </a:p>
            </p:txBody>
          </p:sp>
        </mc:Choice>
        <mc:Fallback>
          <p:sp>
            <p:nvSpPr>
              <p:cNvPr id="24" name="Прямоугольник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062" y="4485089"/>
                <a:ext cx="3303084" cy="461665"/>
              </a:xfrm>
              <a:prstGeom prst="rect">
                <a:avLst/>
              </a:prstGeom>
              <a:blipFill>
                <a:blip r:embed="rId4"/>
                <a:stretch>
                  <a:fillRect l="-2768" t="-13333" b="-2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Прямоугольник 24"/>
              <p:cNvSpPr/>
              <p:nvPr/>
            </p:nvSpPr>
            <p:spPr>
              <a:xfrm>
                <a:off x="7288911" y="3258453"/>
                <a:ext cx="4294381" cy="5288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US" dirty="0"/>
                  <a:t> </a:t>
                </a:r>
                <a:r>
                  <a:rPr lang="ru-RU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ч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ч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с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с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б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ru-RU" dirty="0" smtClean="0">
                    <a:latin typeface="Rostov" pitchFamily="2" charset="0"/>
                  </a:rPr>
                  <a:t> </a:t>
                </a:r>
                <a:endParaRPr lang="ru-RU" dirty="0">
                  <a:latin typeface="Rostov" pitchFamily="2" charset="0"/>
                </a:endParaRPr>
              </a:p>
            </p:txBody>
          </p:sp>
        </mc:Choice>
        <mc:Fallback>
          <p:sp>
            <p:nvSpPr>
              <p:cNvPr id="25" name="Прямоугольник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911" y="3258453"/>
                <a:ext cx="4294381" cy="528863"/>
              </a:xfrm>
              <a:prstGeom prst="rect">
                <a:avLst/>
              </a:prstGeom>
              <a:blipFill>
                <a:blip r:embed="rId5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7021068" y="3915457"/>
                <a:ext cx="752321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068" y="3915457"/>
                <a:ext cx="752321" cy="520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8849669" y="3915457"/>
                <a:ext cx="736291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669" y="3915457"/>
                <a:ext cx="736291" cy="5203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Прямоугольник 27"/>
              <p:cNvSpPr/>
              <p:nvPr/>
            </p:nvSpPr>
            <p:spPr>
              <a:xfrm>
                <a:off x="10429494" y="3872357"/>
                <a:ext cx="940322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б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8" name="Прямоугольник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9494" y="3872357"/>
                <a:ext cx="940322" cy="6127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6527750" y="5630846"/>
            <a:ext cx="1842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H = 2 </a:t>
            </a:r>
            <a:r>
              <a:rPr lang="ru-RU" sz="240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бита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0255" y="3278720"/>
            <a:ext cx="11278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100" dirty="0">
                <a:latin typeface="Rostov" pitchFamily="2" charset="0"/>
              </a:rPr>
              <a:t>к</a:t>
            </a:r>
            <a:r>
              <a:rPr lang="ru-RU" sz="1100" dirty="0" smtClean="0">
                <a:latin typeface="Rostov" pitchFamily="2" charset="0"/>
              </a:rPr>
              <a:t>оличество информации в каждом исходе</a:t>
            </a:r>
            <a:endParaRPr lang="ru-RU" sz="1100" dirty="0">
              <a:latin typeface="Rostov" pitchFamily="2" charset="0"/>
            </a:endParaRPr>
          </a:p>
        </p:txBody>
      </p:sp>
      <p:cxnSp>
        <p:nvCxnSpPr>
          <p:cNvPr id="31" name="Прямая соединительная линия 30"/>
          <p:cNvCxnSpPr>
            <a:stCxn id="17" idx="1"/>
          </p:cNvCxnSpPr>
          <p:nvPr/>
        </p:nvCxnSpPr>
        <p:spPr>
          <a:xfrm flipH="1" flipV="1">
            <a:off x="1988788" y="3457253"/>
            <a:ext cx="419881" cy="18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Овал 31"/>
          <p:cNvSpPr/>
          <p:nvPr/>
        </p:nvSpPr>
        <p:spPr>
          <a:xfrm>
            <a:off x="1963194" y="2151888"/>
            <a:ext cx="585216" cy="53035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9014585" y="2143581"/>
            <a:ext cx="585216" cy="53035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10136886" y="2140533"/>
            <a:ext cx="585216" cy="53035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7890290" y="2151888"/>
            <a:ext cx="585216" cy="53035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8132168" y="2874648"/>
            <a:ext cx="23455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latin typeface="Rostov" pitchFamily="2" charset="0"/>
              </a:rPr>
              <a:t>равновероятное событие </a:t>
            </a:r>
            <a:endParaRPr lang="ru-RU" sz="1400" dirty="0">
              <a:latin typeface="Rostov" pitchFamily="2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4525" y="5630845"/>
            <a:ext cx="1513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 = 2 </a:t>
            </a:r>
            <a:r>
              <a:rPr lang="ru-RU" sz="240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бита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Прямоугольник 37"/>
              <p:cNvSpPr/>
              <p:nvPr/>
            </p:nvSpPr>
            <p:spPr>
              <a:xfrm>
                <a:off x="8369934" y="4578867"/>
                <a:ext cx="1939634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=3∙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8" name="Прямоугольник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934" y="4578867"/>
                <a:ext cx="1939634" cy="6127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92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31733" y="736600"/>
            <a:ext cx="4294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latin typeface="Rostov" pitchFamily="2" charset="0"/>
              </a:rPr>
              <a:t>Источники информации</a:t>
            </a:r>
            <a:endParaRPr lang="ru-RU" sz="2800" dirty="0">
              <a:latin typeface="Rostov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57076" y="1778001"/>
            <a:ext cx="76290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Rostov" pitchFamily="2" charset="0"/>
                <a:hlinkClick r:id="rId2"/>
              </a:rPr>
              <a:t>https://urok-1sept-ru.turbopages.org/urok.1sept.ru/s/articles/574162</a:t>
            </a:r>
            <a:endParaRPr lang="ru-RU" dirty="0" smtClean="0">
              <a:latin typeface="Rostov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Rostov" pitchFamily="2" charset="0"/>
                <a:hlinkClick r:id="rId3"/>
              </a:rPr>
              <a:t>https://best-exam.ru/formula-shenona</a:t>
            </a:r>
            <a:endParaRPr lang="ru-RU" dirty="0" smtClean="0">
              <a:latin typeface="Rostov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stov" pitchFamily="2" charset="0"/>
                <a:hlinkClick r:id="rId4"/>
              </a:rPr>
              <a:t>https://</a:t>
            </a:r>
            <a:r>
              <a:rPr lang="en-US" dirty="0" smtClean="0">
                <a:latin typeface="Rostov" pitchFamily="2" charset="0"/>
                <a:hlinkClick r:id="rId4"/>
              </a:rPr>
              <a:t>youtu.be/B21PJAiOueA</a:t>
            </a:r>
            <a:endParaRPr lang="ru-RU" dirty="0" smtClean="0">
              <a:latin typeface="Rostov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stov" pitchFamily="2" charset="0"/>
                <a:hlinkClick r:id="rId5"/>
              </a:rPr>
              <a:t>https://youtu.be/-NyZeGLFwsk</a:t>
            </a:r>
            <a:endParaRPr lang="ru-RU" dirty="0" smtClean="0">
              <a:latin typeface="Rostov" pitchFamily="2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615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280</Words>
  <Application>Microsoft Office PowerPoint</Application>
  <PresentationFormat>Широкоэкранный</PresentationFormat>
  <Paragraphs>87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Rostov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днс</dc:creator>
  <cp:lastModifiedBy>днс</cp:lastModifiedBy>
  <cp:revision>25</cp:revision>
  <dcterms:created xsi:type="dcterms:W3CDTF">2022-09-25T17:49:47Z</dcterms:created>
  <dcterms:modified xsi:type="dcterms:W3CDTF">2022-09-25T21:37:52Z</dcterms:modified>
</cp:coreProperties>
</file>